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3f8686ccc_0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3f8686cc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3f8686ccc_0_14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3f8686ccc_0_1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3f8686ccc_0_15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3f8686ccc_0_1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3f8686ccc_0_15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3f8686ccc_0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3f8686ccc_0_17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3f8686ccc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3f8686ccc_0_17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3f8686ccc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Audio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Extraction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15931"/>
            <a:ext cx="82221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427">
                <a:latin typeface="Times New Roman"/>
                <a:ea typeface="Times New Roman"/>
                <a:cs typeface="Times New Roman"/>
                <a:sym typeface="Times New Roman"/>
              </a:rPr>
              <a:t>Submitted to: Sir Adeel Nisar</a:t>
            </a:r>
            <a:endParaRPr sz="142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427">
                <a:latin typeface="Times New Roman"/>
                <a:ea typeface="Times New Roman"/>
                <a:cs typeface="Times New Roman"/>
                <a:sym typeface="Times New Roman"/>
              </a:rPr>
              <a:t>Submitted by: Usama Laeeq | </a:t>
            </a:r>
            <a:r>
              <a:rPr lang="en" sz="1427">
                <a:latin typeface="Times New Roman"/>
                <a:ea typeface="Times New Roman"/>
                <a:cs typeface="Times New Roman"/>
                <a:sym typeface="Times New Roman"/>
              </a:rPr>
              <a:t>Muhammad Muaz Ashraf </a:t>
            </a:r>
            <a:br>
              <a:rPr lang="en" sz="1427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9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204175" y="204175"/>
            <a:ext cx="81408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3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Abstract: Key Findings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33175" y="1455925"/>
            <a:ext cx="814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model to extract accurate text from audio using two techniques: fine-tuning and custom ASR.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17250" y="2263800"/>
            <a:ext cx="3417900" cy="1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65475" y="2571750"/>
            <a:ext cx="35406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 1: Fine-Tuning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Fine-tune Whisper model and extract key info with Qwen2 model. </a:t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383838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962625" y="2571750"/>
            <a:ext cx="3482400" cy="1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 2: Custom ASR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ASR from scratch using CNN encoder and GRU decoder with Attention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38383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204175" y="204175"/>
            <a:ext cx="81408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3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ASR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33175" y="1455925"/>
            <a:ext cx="81408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ASR: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Automatic Speech Recognition converts spoken language into text. Crucial in voice assistants like Siri, Alexa, and meeting transcription tools.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Challenges: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Accurate transcription despite noise, varying accents, speech speed, and pronunciation. Real-world audio is often messy.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Inspired by the use of ASR in daily tools and applications. Aim was to understand, compare, and build ASR systems.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Approaches: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Fine-tuning a pre-trained model vs. building a new model from scratch to solve the same task.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65475" y="2571750"/>
            <a:ext cx="77931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38383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118725" y="838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Technique 1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(Fine-tuning)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8" name="Google Shape;108;p16"/>
          <p:cNvGrpSpPr/>
          <p:nvPr/>
        </p:nvGrpSpPr>
        <p:grpSpPr>
          <a:xfrm>
            <a:off x="6038025" y="2411200"/>
            <a:ext cx="3026147" cy="1384500"/>
            <a:chOff x="6038025" y="2598915"/>
            <a:chExt cx="3026147" cy="1384500"/>
          </a:xfrm>
        </p:grpSpPr>
        <p:cxnSp>
          <p:nvCxnSpPr>
            <p:cNvPr id="109" name="Google Shape;109;p16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" name="Google Shape;110;p16"/>
            <p:cNvSpPr txBox="1"/>
            <p:nvPr/>
          </p:nvSpPr>
          <p:spPr>
            <a:xfrm>
              <a:off x="6640472" y="2598915"/>
              <a:ext cx="24237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Transformer Architecture</a:t>
              </a:r>
              <a:endParaRPr b="1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Whispers encoder decoder predicts text in parallel outperforming RNN</a:t>
              </a:r>
              <a:endParaRPr b="1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636321" y="1638728"/>
            <a:ext cx="2994729" cy="1384500"/>
            <a:chOff x="636321" y="1844098"/>
            <a:chExt cx="2994729" cy="1384500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636321" y="1844098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Tokenizer</a:t>
              </a:r>
              <a:endParaRPr b="1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Converts spectrograms into numerical representations</a:t>
              </a:r>
              <a:endParaRPr b="1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r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5" name="Google Shape;115;p16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" name="Google Shape;116;p16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rgbClr val="4141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2498491" y="237375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4908100" y="974675"/>
            <a:ext cx="4069925" cy="1384500"/>
            <a:chOff x="4908100" y="1127080"/>
            <a:chExt cx="4069925" cy="1384500"/>
          </a:xfrm>
        </p:grpSpPr>
        <p:cxnSp>
          <p:nvCxnSpPr>
            <p:cNvPr id="119" name="Google Shape;119;p16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" name="Google Shape;120;p16"/>
            <p:cNvSpPr txBox="1"/>
            <p:nvPr/>
          </p:nvSpPr>
          <p:spPr>
            <a:xfrm>
              <a:off x="6650325" y="1127080"/>
              <a:ext cx="23277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Feature Extractor</a:t>
              </a:r>
              <a:endParaRPr b="1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Converts audio waves to mel </a:t>
              </a:r>
              <a:r>
                <a:rPr lang="en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spectrograms</a:t>
              </a:r>
              <a:endParaRPr b="1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6402820" y="1436790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2814594" y="945750"/>
            <a:ext cx="3514811" cy="3252003"/>
            <a:chOff x="2991269" y="1153325"/>
            <a:chExt cx="3514811" cy="3252003"/>
          </a:xfrm>
        </p:grpSpPr>
        <p:sp>
          <p:nvSpPr>
            <p:cNvPr id="124" name="Google Shape;124;p16"/>
            <p:cNvSpPr/>
            <p:nvPr/>
          </p:nvSpPr>
          <p:spPr>
            <a:xfrm>
              <a:off x="3477586" y="2585458"/>
              <a:ext cx="2541910" cy="950456"/>
            </a:xfrm>
            <a:custGeom>
              <a:rect b="b" l="l" r="r" t="t"/>
              <a:pathLst>
                <a:path extrusionOk="0" h="43529" w="126826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25" name="Google Shape;125;p16"/>
            <p:cNvSpPr/>
            <p:nvPr/>
          </p:nvSpPr>
          <p:spPr>
            <a:xfrm>
              <a:off x="2991269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26" name="Google Shape;126;p16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</p:sp>
        <p:sp>
          <p:nvSpPr>
            <p:cNvPr id="127" name="Google Shape;127;p16"/>
            <p:cNvSpPr/>
            <p:nvPr/>
          </p:nvSpPr>
          <p:spPr>
            <a:xfrm>
              <a:off x="3969199" y="2001324"/>
              <a:ext cx="1565850" cy="585863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28" name="Google Shape;128;p16"/>
            <p:cNvSpPr/>
            <p:nvPr/>
          </p:nvSpPr>
          <p:spPr>
            <a:xfrm>
              <a:off x="356325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29" name="Google Shape;129;p16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414141"/>
            </a:solidFill>
            <a:ln>
              <a:noFill/>
            </a:ln>
          </p:spPr>
        </p:sp>
        <p:sp>
          <p:nvSpPr>
            <p:cNvPr id="130" name="Google Shape;130;p16"/>
            <p:cNvSpPr/>
            <p:nvPr/>
          </p:nvSpPr>
          <p:spPr>
            <a:xfrm>
              <a:off x="4059061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31" name="Google Shape;131;p16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118725" y="838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Technique 2 (Custom ASR)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7" name="Google Shape;137;p17"/>
          <p:cNvGrpSpPr/>
          <p:nvPr/>
        </p:nvGrpSpPr>
        <p:grpSpPr>
          <a:xfrm>
            <a:off x="2688745" y="732019"/>
            <a:ext cx="3768522" cy="3774409"/>
            <a:chOff x="2675582" y="676586"/>
            <a:chExt cx="3793942" cy="3790328"/>
          </a:xfrm>
        </p:grpSpPr>
        <p:sp>
          <p:nvSpPr>
            <p:cNvPr id="138" name="Google Shape;138;p17"/>
            <p:cNvSpPr/>
            <p:nvPr/>
          </p:nvSpPr>
          <p:spPr>
            <a:xfrm rot="-7199815">
              <a:off x="3183352" y="1184485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rgbClr val="4141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-1799815">
              <a:off x="3183352" y="1184357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rgbClr val="4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rot="3600185">
              <a:off x="3187094" y="1184439"/>
              <a:ext cx="2774659" cy="2774659"/>
            </a:xfrm>
            <a:prstGeom prst="blockArc">
              <a:avLst>
                <a:gd fmla="val 12564381" name="adj1"/>
                <a:gd fmla="val 18346131" name="adj2"/>
                <a:gd fmla="val 20844" name="adj3"/>
              </a:avLst>
            </a:prstGeom>
            <a:solidFill>
              <a:srgbClr val="2F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 rot="9000185">
              <a:off x="3185977" y="1184485"/>
              <a:ext cx="2774659" cy="2774659"/>
            </a:xfrm>
            <a:prstGeom prst="blockArc">
              <a:avLst>
                <a:gd fmla="val 12622480" name="adj1"/>
                <a:gd fmla="val 18081133" name="adj2"/>
                <a:gd fmla="val 20809" name="adj3"/>
              </a:avLst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" name="Google Shape;142;p17"/>
            <p:cNvGrpSpPr/>
            <p:nvPr/>
          </p:nvGrpSpPr>
          <p:grpSpPr>
            <a:xfrm rot="5400000">
              <a:off x="5379663" y="2278951"/>
              <a:ext cx="585001" cy="585472"/>
              <a:chOff x="1967628" y="812211"/>
              <a:chExt cx="588000" cy="588000"/>
            </a:xfrm>
          </p:grpSpPr>
          <p:sp>
            <p:nvSpPr>
              <p:cNvPr id="143" name="Google Shape;143;p17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3D3D3D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3D3D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" name="Google Shape;145;p17"/>
            <p:cNvGrpSpPr/>
            <p:nvPr/>
          </p:nvGrpSpPr>
          <p:grpSpPr>
            <a:xfrm rot="10800000">
              <a:off x="4280709" y="3378529"/>
              <a:ext cx="585001" cy="585472"/>
              <a:chOff x="1967628" y="812211"/>
              <a:chExt cx="588000" cy="588000"/>
            </a:xfrm>
          </p:grpSpPr>
          <p:sp>
            <p:nvSpPr>
              <p:cNvPr id="146" name="Google Shape;146;p17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414141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4141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7"/>
            <p:cNvGrpSpPr/>
            <p:nvPr/>
          </p:nvGrpSpPr>
          <p:grpSpPr>
            <a:xfrm rot="-5400000">
              <a:off x="3179922" y="2281478"/>
              <a:ext cx="585001" cy="585472"/>
              <a:chOff x="1967628" y="812211"/>
              <a:chExt cx="588000" cy="588000"/>
            </a:xfrm>
          </p:grpSpPr>
          <p:sp>
            <p:nvSpPr>
              <p:cNvPr id="149" name="Google Shape;149;p17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464646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7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4646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" name="Google Shape;151;p17"/>
            <p:cNvSpPr txBox="1"/>
            <p:nvPr/>
          </p:nvSpPr>
          <p:spPr>
            <a:xfrm>
              <a:off x="3214513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4335750" y="346030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5419402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4" name="Google Shape;154;p17"/>
            <p:cNvGrpSpPr/>
            <p:nvPr/>
          </p:nvGrpSpPr>
          <p:grpSpPr>
            <a:xfrm>
              <a:off x="4261689" y="1180926"/>
              <a:ext cx="585001" cy="585530"/>
              <a:chOff x="1967628" y="812211"/>
              <a:chExt cx="588000" cy="588000"/>
            </a:xfrm>
          </p:grpSpPr>
          <p:sp>
            <p:nvSpPr>
              <p:cNvPr id="155" name="Google Shape;155;p17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2F2F2F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7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2F2F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7" name="Google Shape;157;p17"/>
            <p:cNvSpPr txBox="1"/>
            <p:nvPr/>
          </p:nvSpPr>
          <p:spPr>
            <a:xfrm>
              <a:off x="4335750" y="125444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323500" y="1170475"/>
            <a:ext cx="3362713" cy="1289700"/>
            <a:chOff x="323500" y="1170475"/>
            <a:chExt cx="3362713" cy="1289700"/>
          </a:xfrm>
        </p:grpSpPr>
        <p:sp>
          <p:nvSpPr>
            <p:cNvPr id="159" name="Google Shape;159;p17"/>
            <p:cNvSpPr txBox="1"/>
            <p:nvPr/>
          </p:nvSpPr>
          <p:spPr>
            <a:xfrm>
              <a:off x="323500" y="1170475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CNN Encoder</a:t>
              </a:r>
              <a:endParaRPr b="1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Extracts features from mel</a:t>
              </a:r>
              <a:r>
                <a:rPr lang="en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spectrograms</a:t>
              </a:r>
              <a:endParaRPr b="1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r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0" name="Google Shape;160;p17"/>
            <p:cNvCxnSpPr/>
            <p:nvPr/>
          </p:nvCxnSpPr>
          <p:spPr>
            <a:xfrm rot="10800000">
              <a:off x="2641913" y="1831625"/>
              <a:ext cx="1044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61" name="Google Shape;161;p17"/>
          <p:cNvGrpSpPr/>
          <p:nvPr/>
        </p:nvGrpSpPr>
        <p:grpSpPr>
          <a:xfrm>
            <a:off x="323500" y="2828275"/>
            <a:ext cx="3629413" cy="1289700"/>
            <a:chOff x="323500" y="2828275"/>
            <a:chExt cx="3629413" cy="1289700"/>
          </a:xfrm>
        </p:grpSpPr>
        <p:sp>
          <p:nvSpPr>
            <p:cNvPr id="162" name="Google Shape;162;p17"/>
            <p:cNvSpPr txBox="1"/>
            <p:nvPr/>
          </p:nvSpPr>
          <p:spPr>
            <a:xfrm>
              <a:off x="323500" y="2828275"/>
              <a:ext cx="2124000" cy="1289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GRU</a:t>
              </a:r>
              <a:r>
                <a:rPr b="1" lang="en" sz="16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Decoder</a:t>
              </a:r>
              <a:endParaRPr b="1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Generates texts simpler</a:t>
              </a:r>
              <a:r>
                <a:rPr lang="en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less expensive than LTSM</a:t>
              </a:r>
              <a:endParaRPr b="1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r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3" name="Google Shape;163;p17"/>
            <p:cNvCxnSpPr/>
            <p:nvPr/>
          </p:nvCxnSpPr>
          <p:spPr>
            <a:xfrm rot="10800000">
              <a:off x="2641913" y="3489425"/>
              <a:ext cx="131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64" name="Google Shape;164;p17"/>
          <p:cNvGrpSpPr/>
          <p:nvPr/>
        </p:nvGrpSpPr>
        <p:grpSpPr>
          <a:xfrm>
            <a:off x="5209825" y="1060350"/>
            <a:ext cx="3610650" cy="1289700"/>
            <a:chOff x="5209825" y="1060350"/>
            <a:chExt cx="3610650" cy="1289700"/>
          </a:xfrm>
        </p:grpSpPr>
        <p:sp>
          <p:nvSpPr>
            <p:cNvPr id="165" name="Google Shape;165;p17"/>
            <p:cNvSpPr txBox="1"/>
            <p:nvPr/>
          </p:nvSpPr>
          <p:spPr>
            <a:xfrm>
              <a:off x="6696475" y="1060350"/>
              <a:ext cx="2124000" cy="1289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Attention Mechanism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Help decoder focus on specific audio segments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6" name="Google Shape;166;p17"/>
            <p:cNvCxnSpPr/>
            <p:nvPr/>
          </p:nvCxnSpPr>
          <p:spPr>
            <a:xfrm>
              <a:off x="5209825" y="17052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67" name="Google Shape;167;p17"/>
          <p:cNvGrpSpPr/>
          <p:nvPr/>
        </p:nvGrpSpPr>
        <p:grpSpPr>
          <a:xfrm>
            <a:off x="5209825" y="3020450"/>
            <a:ext cx="3610650" cy="1289700"/>
            <a:chOff x="5209825" y="3020450"/>
            <a:chExt cx="3610650" cy="1289700"/>
          </a:xfrm>
        </p:grpSpPr>
        <p:sp>
          <p:nvSpPr>
            <p:cNvPr id="168" name="Google Shape;168;p17"/>
            <p:cNvSpPr txBox="1"/>
            <p:nvPr/>
          </p:nvSpPr>
          <p:spPr>
            <a:xfrm>
              <a:off x="6696475" y="30204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Teacher Forcing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Ensures correct decoder operation during training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9" name="Google Shape;169;p17"/>
            <p:cNvCxnSpPr/>
            <p:nvPr/>
          </p:nvCxnSpPr>
          <p:spPr>
            <a:xfrm>
              <a:off x="5209825" y="36483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/>
        </p:nvSpPr>
        <p:spPr>
          <a:xfrm>
            <a:off x="204175" y="204175"/>
            <a:ext cx="81408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3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Work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33175" y="1455925"/>
            <a:ext cx="81408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Whisper-Tiny (Fine-tuned):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on LibriSpeech (clean); achieved 6.6% WER. Fine-tuned using Seq2SeqTrainer.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ASR: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WeNet toolkit with Unified Two-Pass (U2) and causal attention. Effective real-time transcription.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Switching: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Adapted Whisper on SEAME and ASRU2019. Small data (1–10 hrs) yielded significant performance boost.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Aviation ASR: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Distil-Whisper model on air traffic control data (70 hrs); achieved 3.86% WER using LoRA fine-tuning.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365475" y="2571750"/>
            <a:ext cx="77931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38383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/>
        </p:nvSpPr>
        <p:spPr>
          <a:xfrm>
            <a:off x="204175" y="204175"/>
            <a:ext cx="81408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3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 and Results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133175" y="1455925"/>
            <a:ext cx="81408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LibriSpeech ASR (100 hrs subset, 28,539 samples). High-quality male/female voices. Sampling rate: 16kHz.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Settings: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70% training, 20% validation, 10% testing. Seed = 42. Evaluated using WER metric.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Fine-Tuning Results: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Achieved 3.95% WER – significant improvement over 5% baseline.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ASR Results: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1.63% WER but considered unreliable due to unstable training conditions.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365475" y="2571750"/>
            <a:ext cx="77931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38383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/>
        </p:nvSpPr>
        <p:spPr>
          <a:xfrm>
            <a:off x="204175" y="204175"/>
            <a:ext cx="81408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3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33175" y="1455925"/>
            <a:ext cx="81408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Model Issues: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Despite low WER (1.63%), custom model suffered from unstable training loops, limiting reliability.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Fine-Tuning Advantage: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Transformer-based Whisper model showed better learning, consistency, and robustness.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Constraints: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Limited to 10 epochs and smaller datasets due to hardware limitations. Optimizer state loss due to interruptions.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Takeaway: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Pretrained models significantly reduce effort and offer better out-of-the-box accuracy in real-world tasks.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65475" y="2571750"/>
            <a:ext cx="77931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38383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/>
        </p:nvSpPr>
        <p:spPr>
          <a:xfrm>
            <a:off x="204175" y="204175"/>
            <a:ext cx="81408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3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33175" y="1455925"/>
            <a:ext cx="81408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Contributions: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Implemented fine-tuning of OpenAI Whisper and developed custom CNN-GRU-Attention ASR for comparison.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Fine-tuned model more reliable with 3.95% WER. Custom ASR less stable despite 1.63% WER.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Plans: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Train on larger datasets with more epochs and stable GPU resources to improve training reliability.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Outlook: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Explore use of CTC Loss and advanced attention mechanisms to boost custom model performance.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65475" y="2571750"/>
            <a:ext cx="77931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38383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